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28FF23-02ED-40EB-BCD8-FA750A9F7AAD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1371600" cy="4762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5168CC-9DCA-4700-8BF1-19884C0B5965}"/>
              </a:ext>
            </a:extLst>
          </p:cNvPr>
          <p:cNvSpPr>
            <a:spLocks noGrp="1"/>
          </p:cNvSpPr>
          <p:nvPr/>
        </p:nvSpPr>
        <p:spPr>
          <a:xfrm>
            <a:off x="514350" y="1581150"/>
            <a:ext cx="10668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Predicting Final-Hour</a:t>
            </a:r>
          </a:p>
          <a:p>
            <a:pPr algn="l"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SPX Price Movements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34D47-7C65-4149-A6CF-65CAE10B06F9}"/>
              </a:ext>
            </a:extLst>
          </p:cNvPr>
          <p:cNvSpPr>
            <a:spLocks noGrp="1"/>
          </p:cNvSpPr>
          <p:nvPr/>
        </p:nvSpPr>
        <p:spPr>
          <a:xfrm>
            <a:off x="533400" y="3409950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0">
                <a:solidFill>
                  <a:srgbClr val="DDE7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DE7EF"/>
                </a:solidFill>
                <a:latin typeface="Arial"/>
                <a:ea typeface="Arial"/>
                <a:cs typeface="Arial"/>
              </a:rPr>
              <a:t>Intraday market features and short-dated options trading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8B795B-9C0C-41B5-90C5-9537F3C276CF}"/>
              </a:ext>
            </a:extLst>
          </p:cNvPr>
          <p:cNvSpPr>
            <a:spLocks noGrp="1"/>
          </p:cNvSpPr>
          <p:nvPr/>
        </p:nvSpPr>
        <p:spPr>
          <a:xfrm>
            <a:off x="533400" y="487680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Harsh Khatri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559FC0-D984-4023-9047-B266211D9E8F}"/>
              </a:ext>
            </a:extLst>
          </p:cNvPr>
          <p:cNvSpPr>
            <a:spLocks noGrp="1"/>
          </p:cNvSpPr>
          <p:nvPr/>
        </p:nvSpPr>
        <p:spPr>
          <a:xfrm>
            <a:off x="533400" y="523875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AFC0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0CE"/>
                </a:solidFill>
                <a:latin typeface="Arial"/>
                <a:ea typeface="Arial"/>
                <a:cs typeface="Arial"/>
              </a:rPr>
              <a:t>Dissertation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82710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17EC738-9380-4C69-A870-9ECCBA4DA8E2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Research problem and questions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825287-6B82-4CD3-9064-4164BCA8EC8B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39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D37C87-461A-4535-A407-B24F0474F29A}"/>
              </a:ext>
            </a:extLst>
          </p:cNvPr>
          <p:cNvSpPr>
            <a:spLocks noGrp="1"/>
          </p:cNvSpPr>
          <p:nvPr/>
        </p:nvSpPr>
        <p:spPr>
          <a:xfrm>
            <a:off x="11096625" y="6515100"/>
            <a:ext cx="590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7A91"/>
                </a:solidFill>
                <a:latin typeface="Arial"/>
                <a:ea typeface="Arial"/>
                <a:cs typeface="Arial"/>
              </a:rPr>
              <a:t>2/10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F9D181-C9BF-4204-833D-2D9BA6DA39C8}"/>
              </a:ext>
            </a:extLst>
          </p:cNvPr>
          <p:cNvSpPr>
            <a:spLocks noGrp="1"/>
          </p:cNvSpPr>
          <p:nvPr/>
        </p:nvSpPr>
        <p:spPr>
          <a:xfrm>
            <a:off x="495300" y="1219200"/>
            <a:ext cx="3905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6F8F"/>
                </a:solidFill>
                <a:latin typeface="Arial"/>
                <a:ea typeface="Arial"/>
                <a:cs typeface="Arial"/>
              </a:rPr>
              <a:t>Core problem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8810F4-03C3-43C1-8E30-26FC00D21D91}"/>
              </a:ext>
            </a:extLst>
          </p:cNvPr>
          <p:cNvSpPr>
            <a:spLocks noGrp="1"/>
          </p:cNvSpPr>
          <p:nvPr/>
        </p:nvSpPr>
        <p:spPr>
          <a:xfrm>
            <a:off x="495300" y="1628775"/>
            <a:ext cx="4000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Can information known by 15:00 anticipate the SPX move into the close?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B0C51D-4B03-4390-A27D-89873335C64A}"/>
              </a:ext>
            </a:extLst>
          </p:cNvPr>
          <p:cNvSpPr>
            <a:spLocks noGrp="1"/>
          </p:cNvSpPr>
          <p:nvPr/>
        </p:nvSpPr>
        <p:spPr>
          <a:xfrm>
            <a:off x="495300" y="2800350"/>
            <a:ext cx="3905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6F8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468762-8E56-4248-A112-9257B32E77C7}"/>
              </a:ext>
            </a:extLst>
          </p:cNvPr>
          <p:cNvSpPr>
            <a:spLocks noGrp="1"/>
          </p:cNvSpPr>
          <p:nvPr/>
        </p:nvSpPr>
        <p:spPr>
          <a:xfrm>
            <a:off x="666750" y="3219450"/>
            <a:ext cx="419100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00000"/>
              </a:lnSpc>
              <a:spcAft>
                <a:spcPts val="9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0DTE option premiums react sharply to small SPX moves.</a:t>
            </a:r>
          </a:p>
          <a:p>
            <a:pPr marL="228600" indent="-114300" algn="l">
              <a:lnSpc>
                <a:spcPct val="100000"/>
              </a:lnSpc>
              <a:spcAft>
                <a:spcPts val="9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Statistical accuracy alone does not establish economic value.</a:t>
            </a:r>
          </a:p>
          <a:p>
            <a:pPr marL="228600" indent="-114300" algn="l">
              <a:lnSpc>
                <a:spcPct val="100000"/>
              </a:lnSpc>
              <a:spcAft>
                <a:spcPts val="9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Execution costs can reverse an apparently profitable result.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81D7DF-7B4A-4020-B912-4BEED17A2C96}"/>
              </a:ext>
            </a:extLst>
          </p:cNvPr>
          <p:cNvSpPr>
            <a:spLocks noGrp="1"/>
          </p:cNvSpPr>
          <p:nvPr/>
        </p:nvSpPr>
        <p:spPr>
          <a:xfrm>
            <a:off x="5905500" y="1219200"/>
            <a:ext cx="514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6F8F"/>
                </a:solidFill>
                <a:latin typeface="Arial"/>
                <a:ea typeface="Arial"/>
                <a:cs typeface="Arial"/>
              </a:rPr>
              <a:t>Five research questions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CBD2CE-1F4C-4E72-81E2-A066D6A05C5F}"/>
              </a:ext>
            </a:extLst>
          </p:cNvPr>
          <p:cNvSpPr>
            <a:spLocks noGrp="1"/>
          </p:cNvSpPr>
          <p:nvPr/>
        </p:nvSpPr>
        <p:spPr>
          <a:xfrm>
            <a:off x="6076950" y="1724025"/>
            <a:ext cx="685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9C91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69C91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A0543D-A626-4D34-963C-848DB69A105D}"/>
              </a:ext>
            </a:extLst>
          </p:cNvPr>
          <p:cNvSpPr>
            <a:spLocks noGrp="1"/>
          </p:cNvSpPr>
          <p:nvPr/>
        </p:nvSpPr>
        <p:spPr>
          <a:xfrm>
            <a:off x="6953250" y="1704975"/>
            <a:ext cx="44291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Predict final-hour direction.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FE23CA-5A3A-43ED-926D-0B6509DE0767}"/>
              </a:ext>
            </a:extLst>
          </p:cNvPr>
          <p:cNvSpPr>
            <a:spLocks noGrp="1"/>
          </p:cNvSpPr>
          <p:nvPr/>
        </p:nvSpPr>
        <p:spPr>
          <a:xfrm>
            <a:off x="6076950" y="2486025"/>
            <a:ext cx="685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9C91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69C91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750542-A400-484A-A2A0-EC503D3EB44F}"/>
              </a:ext>
            </a:extLst>
          </p:cNvPr>
          <p:cNvSpPr>
            <a:spLocks noGrp="1"/>
          </p:cNvSpPr>
          <p:nvPr/>
        </p:nvSpPr>
        <p:spPr>
          <a:xfrm>
            <a:off x="6953250" y="2466975"/>
            <a:ext cx="44291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Predict absolute movement in basis points.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EEB8FB-99DA-41C0-805B-B5A54F30919D}"/>
              </a:ext>
            </a:extLst>
          </p:cNvPr>
          <p:cNvSpPr>
            <a:spLocks noGrp="1"/>
          </p:cNvSpPr>
          <p:nvPr/>
        </p:nvSpPr>
        <p:spPr>
          <a:xfrm>
            <a:off x="6076950" y="3248025"/>
            <a:ext cx="685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9C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9C91"/>
                </a:solidFill>
                <a:latin typeface="Arial"/>
                <a:ea typeface="Arial"/>
                <a:cs typeface="Arial"/>
              </a:rPr>
              <a:t>RQ3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CFCFE3-5C93-4F8B-B9A0-7357A4307031}"/>
              </a:ext>
            </a:extLst>
          </p:cNvPr>
          <p:cNvSpPr>
            <a:spLocks noGrp="1"/>
          </p:cNvSpPr>
          <p:nvPr/>
        </p:nvSpPr>
        <p:spPr>
          <a:xfrm>
            <a:off x="6953250" y="3228975"/>
            <a:ext cx="44291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Identify large moves and the most useful features.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9DB108-B5ED-4C5C-931B-A9D268F102EE}"/>
              </a:ext>
            </a:extLst>
          </p:cNvPr>
          <p:cNvSpPr>
            <a:spLocks noGrp="1"/>
          </p:cNvSpPr>
          <p:nvPr/>
        </p:nvSpPr>
        <p:spPr>
          <a:xfrm>
            <a:off x="6076950" y="4010025"/>
            <a:ext cx="685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9C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9C91"/>
                </a:solidFill>
                <a:latin typeface="Arial"/>
                <a:ea typeface="Arial"/>
                <a:cs typeface="Arial"/>
              </a:rPr>
              <a:t>RQ4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7308D1-ED09-4516-AB54-7CDAF9B47085}"/>
              </a:ext>
            </a:extLst>
          </p:cNvPr>
          <p:cNvSpPr>
            <a:spLocks noGrp="1"/>
          </p:cNvSpPr>
          <p:nvPr/>
        </p:nvSpPr>
        <p:spPr>
          <a:xfrm>
            <a:off x="6953250" y="3990975"/>
            <a:ext cx="44291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Test whether signals concentrate meaningful opportunities.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30F8BA-3261-4D50-8891-1DFF8A657FC0}"/>
              </a:ext>
            </a:extLst>
          </p:cNvPr>
          <p:cNvSpPr>
            <a:spLocks noGrp="1"/>
          </p:cNvSpPr>
          <p:nvPr/>
        </p:nvSpPr>
        <p:spPr>
          <a:xfrm>
            <a:off x="6076950" y="4772025"/>
            <a:ext cx="685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9C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9C91"/>
                </a:solidFill>
                <a:latin typeface="Arial"/>
                <a:ea typeface="Arial"/>
                <a:cs typeface="Arial"/>
              </a:rPr>
              <a:t>RQ5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2247D6-899B-4617-96A9-5AC65A063999}"/>
              </a:ext>
            </a:extLst>
          </p:cNvPr>
          <p:cNvSpPr>
            <a:spLocks noGrp="1"/>
          </p:cNvSpPr>
          <p:nvPr/>
        </p:nvSpPr>
        <p:spPr>
          <a:xfrm>
            <a:off x="6953250" y="4752975"/>
            <a:ext cx="44291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Backtest an SPX 0DTE rule after costs.</a:t>
            </a:r>
          </a:p>
        </p:txBody>
      </p:sp>
    </p:spTree>
    <p:extLst>
      <p:ext uri="{BB962C8B-B14F-4D97-AF65-F5344CB8AC3E}">
        <p14:creationId xmlns:p14="http://schemas.microsoft.com/office/powerpoint/2010/main" val="62512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F65C30-34F7-469D-AB50-967530E990AE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Data and prediction targets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C3C3DB-CDCB-4E27-8E6C-7FD50EC83E23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39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29507F-D1E5-4460-908E-7041F0B3D363}"/>
              </a:ext>
            </a:extLst>
          </p:cNvPr>
          <p:cNvSpPr>
            <a:spLocks noGrp="1"/>
          </p:cNvSpPr>
          <p:nvPr/>
        </p:nvSpPr>
        <p:spPr>
          <a:xfrm>
            <a:off x="11096625" y="6515100"/>
            <a:ext cx="590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3/10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7A535A-690F-4A81-BC9F-2B870F0413E4}"/>
              </a:ext>
            </a:extLst>
          </p:cNvPr>
          <p:cNvSpPr>
            <a:spLocks noGrp="1"/>
          </p:cNvSpPr>
          <p:nvPr/>
        </p:nvSpPr>
        <p:spPr>
          <a:xfrm>
            <a:off x="495300" y="1200150"/>
            <a:ext cx="3905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Market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FA208E-B220-4EDD-B233-0078C9E2C6CB}"/>
              </a:ext>
            </a:extLst>
          </p:cNvPr>
          <p:cNvSpPr>
            <a:spLocks noGrp="1"/>
          </p:cNvSpPr>
          <p:nvPr/>
        </p:nvSpPr>
        <p:spPr>
          <a:xfrm>
            <a:off x="666750" y="1628775"/>
            <a:ext cx="4095750" cy="1828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00000"/>
              </a:lnSpc>
              <a:spcAft>
                <a:spcPts val="9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One-minute SPX, SPY and VIX data from Massive</a:t>
            </a:r>
          </a:p>
          <a:p>
            <a:pPr marL="228600" indent="-114300" algn="l">
              <a:lnSpc>
                <a:spcPct val="100000"/>
              </a:lnSpc>
              <a:spcAft>
                <a:spcPts val="9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18 July 2024 to 17 July 2026</a:t>
            </a:r>
          </a:p>
          <a:p>
            <a:pPr marL="228600" indent="-114300" algn="l">
              <a:lnSpc>
                <a:spcPct val="100000"/>
              </a:lnSpc>
              <a:spcAft>
                <a:spcPts val="9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501 aligned sessions, with 434 strict and 486 relaxed modelling sessions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97A76A-AA8A-4696-8C6D-E12CCC4F331C}"/>
              </a:ext>
            </a:extLst>
          </p:cNvPr>
          <p:cNvSpPr>
            <a:spLocks noGrp="1"/>
          </p:cNvSpPr>
          <p:nvPr/>
        </p:nvSpPr>
        <p:spPr>
          <a:xfrm>
            <a:off x="495300" y="3724275"/>
            <a:ext cx="3905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Prediction boundary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36343-DFC9-4AD1-984B-5B69C386C05A}"/>
              </a:ext>
            </a:extLst>
          </p:cNvPr>
          <p:cNvSpPr>
            <a:spLocks noGrp="1"/>
          </p:cNvSpPr>
          <p:nvPr/>
        </p:nvSpPr>
        <p:spPr>
          <a:xfrm>
            <a:off x="495300" y="4114800"/>
            <a:ext cx="4095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Features end at 14:59. The target spans the 14:59 to 15:59 closes.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E5B48-EE66-49CC-982A-B9DFA08200DD}"/>
              </a:ext>
            </a:extLst>
          </p:cNvPr>
          <p:cNvSpPr>
            <a:spLocks noGrp="1"/>
          </p:cNvSpPr>
          <p:nvPr/>
        </p:nvSpPr>
        <p:spPr>
          <a:xfrm>
            <a:off x="495300" y="5105400"/>
            <a:ext cx="3905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2450C3-B49C-4C4A-BFE8-C399FB9D42E0}"/>
              </a:ext>
            </a:extLst>
          </p:cNvPr>
          <p:cNvSpPr>
            <a:spLocks noGrp="1"/>
          </p:cNvSpPr>
          <p:nvPr/>
        </p:nvSpPr>
        <p:spPr>
          <a:xfrm>
            <a:off x="495300" y="5486400"/>
            <a:ext cx="409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RQ1  direction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RQ2  absolute movement in bps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RQ3  move of at least 27.5 bps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76850" y="1628775"/>
            <a:ext cx="6572250" cy="32392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3497A5C-E368-472E-B7CE-ECFFCCC7E205}"/>
              </a:ext>
            </a:extLst>
          </p:cNvPr>
          <p:cNvSpPr>
            <a:spLocks noGrp="1"/>
          </p:cNvSpPr>
          <p:nvPr/>
        </p:nvSpPr>
        <p:spPr>
          <a:xfrm>
            <a:off x="5381625" y="5324475"/>
            <a:ext cx="5905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Final-hour returns cluster near zero, with a small number of large moves.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250CBB-4D28-21B5-2FB1-B04BF147352B}"/>
              </a:ext>
            </a:extLst>
          </p:cNvPr>
          <p:cNvSpPr>
            <a:spLocks noGrp="1"/>
          </p:cNvSpPr>
          <p:nvPr/>
        </p:nvSpPr>
        <p:spPr>
          <a:xfrm>
            <a:off x="495300" y="1485900"/>
            <a:ext cx="11239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117D6A-4279-AF92-3AB5-B28AE7C7A7B0}"/>
              </a:ext>
            </a:extLst>
          </p:cNvPr>
          <p:cNvSpPr>
            <a:spLocks noGrp="1"/>
          </p:cNvSpPr>
          <p:nvPr/>
        </p:nvSpPr>
        <p:spPr>
          <a:xfrm>
            <a:off x="495300" y="4000499"/>
            <a:ext cx="2650236" cy="4762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582CEA-758F-6441-E6FA-6B2F8D2B68AA}"/>
              </a:ext>
            </a:extLst>
          </p:cNvPr>
          <p:cNvSpPr>
            <a:spLocks noGrp="1"/>
          </p:cNvSpPr>
          <p:nvPr/>
        </p:nvSpPr>
        <p:spPr>
          <a:xfrm flipV="1">
            <a:off x="495300" y="5371529"/>
            <a:ext cx="1351788" cy="45719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A12E96-2C8A-E414-6565-14A490C9619B}"/>
              </a:ext>
            </a:extLst>
          </p:cNvPr>
          <p:cNvSpPr>
            <a:spLocks noGrp="1"/>
          </p:cNvSpPr>
          <p:nvPr/>
        </p:nvSpPr>
        <p:spPr>
          <a:xfrm>
            <a:off x="4963668" y="1462087"/>
            <a:ext cx="1857756" cy="90488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7E058B-1CBE-1571-286A-8B47359007F0}"/>
              </a:ext>
            </a:extLst>
          </p:cNvPr>
          <p:cNvSpPr>
            <a:spLocks noGrp="1"/>
          </p:cNvSpPr>
          <p:nvPr/>
        </p:nvSpPr>
        <p:spPr>
          <a:xfrm rot="16200000">
            <a:off x="4225306" y="2200450"/>
            <a:ext cx="1599410" cy="122683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BC817F-D553-B862-3DF9-14111AFB24BA}"/>
              </a:ext>
            </a:extLst>
          </p:cNvPr>
          <p:cNvSpPr>
            <a:spLocks noGrp="1"/>
          </p:cNvSpPr>
          <p:nvPr/>
        </p:nvSpPr>
        <p:spPr>
          <a:xfrm rot="5400000">
            <a:off x="11065475" y="4132053"/>
            <a:ext cx="1857756" cy="90488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E81F26-50DE-E31F-8F8F-6DCD11383FB9}"/>
              </a:ext>
            </a:extLst>
          </p:cNvPr>
          <p:cNvSpPr>
            <a:spLocks noGrp="1"/>
          </p:cNvSpPr>
          <p:nvPr/>
        </p:nvSpPr>
        <p:spPr>
          <a:xfrm rot="10800000">
            <a:off x="10136597" y="5014912"/>
            <a:ext cx="1857756" cy="90488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29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BF3E477-DA2B-4956-AA32-86723540E649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Chronological modelling and leakage controls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F373B7-128E-4A06-B4F6-94FAAC1A45C6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39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306B76-1090-4AD5-A366-79969DB5DD1A}"/>
              </a:ext>
            </a:extLst>
          </p:cNvPr>
          <p:cNvSpPr>
            <a:spLocks noGrp="1"/>
          </p:cNvSpPr>
          <p:nvPr/>
        </p:nvSpPr>
        <p:spPr>
          <a:xfrm>
            <a:off x="11096625" y="6515100"/>
            <a:ext cx="590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7A91"/>
                </a:solidFill>
                <a:latin typeface="Arial"/>
                <a:ea typeface="Arial"/>
                <a:cs typeface="Arial"/>
              </a:rPr>
              <a:t>4/10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9199D0-09D1-442D-BA08-FFCB22F20AAA}"/>
              </a:ext>
            </a:extLst>
          </p:cNvPr>
          <p:cNvSpPr>
            <a:spLocks noGrp="1"/>
          </p:cNvSpPr>
          <p:nvPr/>
        </p:nvSpPr>
        <p:spPr>
          <a:xfrm>
            <a:off x="495300" y="118110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0F6F8F"/>
                </a:solidFill>
                <a:latin typeface="Arial"/>
                <a:ea typeface="Arial"/>
                <a:cs typeface="Arial"/>
              </a:rPr>
              <a:t>Strict-dataset split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4D9E420-E7DD-498A-8D72-7F9B01411F24}"/>
              </a:ext>
            </a:extLst>
          </p:cNvPr>
          <p:cNvSpPr>
            <a:spLocks noGrp="1"/>
          </p:cNvSpPr>
          <p:nvPr/>
        </p:nvSpPr>
        <p:spPr>
          <a:xfrm>
            <a:off x="495300" y="1590675"/>
            <a:ext cx="11182350" cy="9525"/>
          </a:xfrm>
          <a:prstGeom prst="line">
            <a:avLst/>
          </a:prstGeom>
          <a:noFill/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01BB07-5C9B-436E-88BC-A9A18A8E47F1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63A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D18E21-72C9-4877-A2EF-E96C7E69F2F6}"/>
              </a:ext>
            </a:extLst>
          </p:cNvPr>
          <p:cNvSpPr>
            <a:spLocks noGrp="1"/>
          </p:cNvSpPr>
          <p:nvPr/>
        </p:nvSpPr>
        <p:spPr>
          <a:xfrm>
            <a:off x="2533650" y="17526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18 Jul 2024 to 3 Dec 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7FC30E-6CD0-49B1-A15D-CC71526F530B}"/>
              </a:ext>
            </a:extLst>
          </p:cNvPr>
          <p:cNvSpPr>
            <a:spLocks noGrp="1"/>
          </p:cNvSpPr>
          <p:nvPr/>
        </p:nvSpPr>
        <p:spPr>
          <a:xfrm>
            <a:off x="9525000" y="175260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303 sessions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387CE5-2214-4204-B008-C6098336FEFE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63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B42FAE-E8C9-4C68-9182-5BC495BF3AC4}"/>
              </a:ext>
            </a:extLst>
          </p:cNvPr>
          <p:cNvSpPr>
            <a:spLocks noGrp="1"/>
          </p:cNvSpPr>
          <p:nvPr/>
        </p:nvSpPr>
        <p:spPr>
          <a:xfrm>
            <a:off x="2533650" y="22764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4 Dec 2025 to 20 Mar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DB98CE-1EF5-44CE-9839-97A4456D78DD}"/>
              </a:ext>
            </a:extLst>
          </p:cNvPr>
          <p:cNvSpPr>
            <a:spLocks noGrp="1"/>
          </p:cNvSpPr>
          <p:nvPr/>
        </p:nvSpPr>
        <p:spPr>
          <a:xfrm>
            <a:off x="9525000" y="22764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65 sessions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ACE46-DF67-49E6-94DA-03E7EEFAE90E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63A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2478E5-1663-4556-AA66-D1FAD2EEF094}"/>
              </a:ext>
            </a:extLst>
          </p:cNvPr>
          <p:cNvSpPr>
            <a:spLocks noGrp="1"/>
          </p:cNvSpPr>
          <p:nvPr/>
        </p:nvSpPr>
        <p:spPr>
          <a:xfrm>
            <a:off x="2533650" y="280035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23 Mar 2026 to 17 Jul 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D589B2-277B-438B-BE13-EB0DDF2A075A}"/>
              </a:ext>
            </a:extLst>
          </p:cNvPr>
          <p:cNvSpPr>
            <a:spLocks noGrp="1"/>
          </p:cNvSpPr>
          <p:nvPr/>
        </p:nvSpPr>
        <p:spPr>
          <a:xfrm>
            <a:off x="9525000" y="28003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66 sessions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414DC92-7E66-4703-88E0-16E18514E5B5}"/>
              </a:ext>
            </a:extLst>
          </p:cNvPr>
          <p:cNvSpPr>
            <a:spLocks noGrp="1"/>
          </p:cNvSpPr>
          <p:nvPr/>
        </p:nvSpPr>
        <p:spPr>
          <a:xfrm>
            <a:off x="495300" y="3352800"/>
            <a:ext cx="11182350" cy="9525"/>
          </a:xfrm>
          <a:prstGeom prst="line">
            <a:avLst/>
          </a:prstGeom>
          <a:noFill/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9915C3-62BD-4C2E-BB3E-3705FBA09D75}"/>
              </a:ext>
            </a:extLst>
          </p:cNvPr>
          <p:cNvSpPr>
            <a:spLocks noGrp="1"/>
          </p:cNvSpPr>
          <p:nvPr/>
        </p:nvSpPr>
        <p:spPr>
          <a:xfrm>
            <a:off x="495300" y="3638550"/>
            <a:ext cx="457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0F6F8F"/>
                </a:solidFill>
                <a:latin typeface="Arial"/>
                <a:ea typeface="Arial"/>
                <a:cs typeface="Arial"/>
              </a:rPr>
              <a:t>Leakage controls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FD0645-C974-49DA-8A90-AF972BAFC763}"/>
              </a:ext>
            </a:extLst>
          </p:cNvPr>
          <p:cNvSpPr>
            <a:spLocks noGrp="1"/>
          </p:cNvSpPr>
          <p:nvPr/>
        </p:nvSpPr>
        <p:spPr>
          <a:xfrm>
            <a:off x="666750" y="4057650"/>
            <a:ext cx="495300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00000"/>
              </a:lnSpc>
              <a:spcAft>
                <a:spcPts val="800"/>
              </a:spcAft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Expanding-window validation preserved time order.</a:t>
            </a:r>
          </a:p>
          <a:p>
            <a:pPr marL="228600" indent="-114300" algn="l">
              <a:lnSpc>
                <a:spcPct val="100000"/>
              </a:lnSpc>
              <a:spcAft>
                <a:spcPts val="800"/>
              </a:spcAft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Each training fold fitted its own preprocessing steps.</a:t>
            </a:r>
          </a:p>
          <a:p>
            <a:pPr marL="228600" indent="-114300" algn="l">
              <a:lnSpc>
                <a:spcPct val="100000"/>
              </a:lnSpc>
              <a:spcAft>
                <a:spcPts val="800"/>
              </a:spcAft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Nested validation separated tuning from later evaluation.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8AEC6E-A594-40CA-A56B-EA75479662B2}"/>
              </a:ext>
            </a:extLst>
          </p:cNvPr>
          <p:cNvSpPr>
            <a:spLocks noGrp="1"/>
          </p:cNvSpPr>
          <p:nvPr/>
        </p:nvSpPr>
        <p:spPr>
          <a:xfrm>
            <a:off x="6324600" y="3638550"/>
            <a:ext cx="457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6F8F"/>
                </a:solidFill>
                <a:latin typeface="Arial"/>
                <a:ea typeface="Arial"/>
                <a:cs typeface="Arial"/>
              </a:rPr>
              <a:t>Model comparison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1C56A3-7CDF-4238-AAAF-86E4668BF0B3}"/>
              </a:ext>
            </a:extLst>
          </p:cNvPr>
          <p:cNvSpPr>
            <a:spLocks noGrp="1"/>
          </p:cNvSpPr>
          <p:nvPr/>
        </p:nvSpPr>
        <p:spPr>
          <a:xfrm>
            <a:off x="6324600" y="4057650"/>
            <a:ext cx="490537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The analysis compared linear, </a:t>
            </a:r>
            <a:r>
              <a:rPr sz="1650" b="0" dirty="0" err="1">
                <a:solidFill>
                  <a:srgbClr val="16263A"/>
                </a:solidFill>
                <a:latin typeface="Arial"/>
                <a:ea typeface="Arial"/>
                <a:cs typeface="Arial"/>
              </a:rPr>
              <a:t>neighbour</a:t>
            </a:r>
            <a:r>
              <a:rPr sz="1650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, tree, kernel and neural models with simple trading and statistical benchmarks.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F4F52A-0310-4F42-BDC9-537238A49FE2}"/>
              </a:ext>
            </a:extLst>
          </p:cNvPr>
          <p:cNvSpPr>
            <a:spLocks noGrp="1"/>
          </p:cNvSpPr>
          <p:nvPr/>
        </p:nvSpPr>
        <p:spPr>
          <a:xfrm>
            <a:off x="6324600" y="53340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Every outer-fold prediction came from a model that had not seen that session.</a:t>
            </a:r>
          </a:p>
        </p:txBody>
      </p:sp>
    </p:spTree>
    <p:extLst>
      <p:ext uri="{BB962C8B-B14F-4D97-AF65-F5344CB8AC3E}">
        <p14:creationId xmlns:p14="http://schemas.microsoft.com/office/powerpoint/2010/main" val="85073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61CD212-CE7A-4CBD-B9B9-C8AB8949DCB6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Predictive results for RQ1 to RQ3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C08BB6-22F3-483F-A38A-13DE31362193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39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805601-51A6-43D1-9E41-AC23C21E232C}"/>
              </a:ext>
            </a:extLst>
          </p:cNvPr>
          <p:cNvSpPr>
            <a:spLocks noGrp="1"/>
          </p:cNvSpPr>
          <p:nvPr/>
        </p:nvSpPr>
        <p:spPr>
          <a:xfrm>
            <a:off x="11096625" y="6515100"/>
            <a:ext cx="590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5/10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661AB-633F-4AF0-8612-7A8C0EE318E2}"/>
              </a:ext>
            </a:extLst>
          </p:cNvPr>
          <p:cNvSpPr>
            <a:spLocks noGrp="1"/>
          </p:cNvSpPr>
          <p:nvPr/>
        </p:nvSpPr>
        <p:spPr>
          <a:xfrm>
            <a:off x="495300" y="12001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C0B365-19E9-419B-8AB8-C8D906974938}"/>
              </a:ext>
            </a:extLst>
          </p:cNvPr>
          <p:cNvSpPr>
            <a:spLocks noGrp="1"/>
          </p:cNvSpPr>
          <p:nvPr/>
        </p:nvSpPr>
        <p:spPr>
          <a:xfrm>
            <a:off x="2324100" y="120015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Selected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F7E1B6-F806-439A-BA8E-CB8CBBB0DD12}"/>
              </a:ext>
            </a:extLst>
          </p:cNvPr>
          <p:cNvSpPr>
            <a:spLocks noGrp="1"/>
          </p:cNvSpPr>
          <p:nvPr/>
        </p:nvSpPr>
        <p:spPr>
          <a:xfrm>
            <a:off x="5524500" y="1200150"/>
            <a:ext cx="609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Result and benchmark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D783EFC-C5B5-43B1-9F1B-C219833B7607}"/>
              </a:ext>
            </a:extLst>
          </p:cNvPr>
          <p:cNvSpPr>
            <a:spLocks noGrp="1"/>
          </p:cNvSpPr>
          <p:nvPr/>
        </p:nvSpPr>
        <p:spPr>
          <a:xfrm>
            <a:off x="495300" y="1552575"/>
            <a:ext cx="11182350" cy="9525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B25310-4FD9-4462-BCDD-51994F38C5A7}"/>
              </a:ext>
            </a:extLst>
          </p:cNvPr>
          <p:cNvSpPr>
            <a:spLocks noGrp="1"/>
          </p:cNvSpPr>
          <p:nvPr/>
        </p:nvSpPr>
        <p:spPr>
          <a:xfrm>
            <a:off x="495300" y="1790700"/>
            <a:ext cx="15716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RQ1</a:t>
            </a:r>
          </a:p>
          <a:p>
            <a:pPr algn="l">
              <a:lnSpc>
                <a:spcPct val="92000"/>
              </a:lnSpc>
              <a:buNone/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994782-1901-4B49-9E83-B6BB71D57DA0}"/>
              </a:ext>
            </a:extLst>
          </p:cNvPr>
          <p:cNvSpPr>
            <a:spLocks noGrp="1"/>
          </p:cNvSpPr>
          <p:nvPr/>
        </p:nvSpPr>
        <p:spPr>
          <a:xfrm>
            <a:off x="2324100" y="1790700"/>
            <a:ext cx="27432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Histogram Gradient</a:t>
            </a:r>
          </a:p>
          <a:p>
            <a:pPr algn="l">
              <a:lnSpc>
                <a:spcPct val="95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Boosting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E4720-B76F-4BBA-9390-0AC735F27404}"/>
              </a:ext>
            </a:extLst>
          </p:cNvPr>
          <p:cNvSpPr>
            <a:spLocks noGrp="1"/>
          </p:cNvSpPr>
          <p:nvPr/>
        </p:nvSpPr>
        <p:spPr>
          <a:xfrm>
            <a:off x="5524500" y="1790700"/>
            <a:ext cx="59626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Balanced accuracy 0.544 ± 0.070</a:t>
            </a:r>
          </a:p>
          <a:p>
            <a:pPr algn="l">
              <a:lnSpc>
                <a:spcPct val="95000"/>
              </a:lnSpc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Below 60-minute mean reversion at 0.569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37E3708-506B-4D20-A55F-4F15929D0AF4}"/>
              </a:ext>
            </a:extLst>
          </p:cNvPr>
          <p:cNvSpPr>
            <a:spLocks noGrp="1"/>
          </p:cNvSpPr>
          <p:nvPr/>
        </p:nvSpPr>
        <p:spPr>
          <a:xfrm>
            <a:off x="495300" y="2819400"/>
            <a:ext cx="11182350" cy="9525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56CBA4-11AB-4302-81F6-3EB89E0860B8}"/>
              </a:ext>
            </a:extLst>
          </p:cNvPr>
          <p:cNvSpPr>
            <a:spLocks noGrp="1"/>
          </p:cNvSpPr>
          <p:nvPr/>
        </p:nvSpPr>
        <p:spPr>
          <a:xfrm>
            <a:off x="495300" y="3028950"/>
            <a:ext cx="15716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RQ2</a:t>
            </a:r>
          </a:p>
          <a:p>
            <a:pPr algn="l">
              <a:lnSpc>
                <a:spcPct val="92000"/>
              </a:lnSpc>
              <a:buNone/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Magnitude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2084C-56A0-49E2-8A0D-AE7269A84C4F}"/>
              </a:ext>
            </a:extLst>
          </p:cNvPr>
          <p:cNvSpPr>
            <a:spLocks noGrp="1"/>
          </p:cNvSpPr>
          <p:nvPr/>
        </p:nvSpPr>
        <p:spPr>
          <a:xfrm>
            <a:off x="2324100" y="3028950"/>
            <a:ext cx="27432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RBF SVR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016157-1875-47C7-B316-5F975068DB6D}"/>
              </a:ext>
            </a:extLst>
          </p:cNvPr>
          <p:cNvSpPr>
            <a:spLocks noGrp="1"/>
          </p:cNvSpPr>
          <p:nvPr/>
        </p:nvSpPr>
        <p:spPr>
          <a:xfrm>
            <a:off x="5524500" y="3028950"/>
            <a:ext cx="59626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MAE 13.97 ± 5.41 bps versus 15.29 bps median benchmark</a:t>
            </a:r>
          </a:p>
          <a:p>
            <a:pPr algn="l">
              <a:lnSpc>
                <a:spcPct val="95000"/>
              </a:lnSpc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Out-of-sample R² approximately 0.003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D4848B7-5F6E-4B73-AE09-1CB7C4D09112}"/>
              </a:ext>
            </a:extLst>
          </p:cNvPr>
          <p:cNvSpPr>
            <a:spLocks noGrp="1"/>
          </p:cNvSpPr>
          <p:nvPr/>
        </p:nvSpPr>
        <p:spPr>
          <a:xfrm>
            <a:off x="495300" y="4057650"/>
            <a:ext cx="11182350" cy="9525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6BC2D5-A0FB-453D-823A-38B86ADDB0E0}"/>
              </a:ext>
            </a:extLst>
          </p:cNvPr>
          <p:cNvSpPr>
            <a:spLocks noGrp="1"/>
          </p:cNvSpPr>
          <p:nvPr/>
        </p:nvSpPr>
        <p:spPr>
          <a:xfrm>
            <a:off x="495300" y="4267200"/>
            <a:ext cx="15716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RQ3</a:t>
            </a:r>
          </a:p>
          <a:p>
            <a:pPr algn="l">
              <a:lnSpc>
                <a:spcPct val="92000"/>
              </a:lnSpc>
              <a:buNone/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Large move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5727DE-FA87-40D3-A8F1-8B503B387EE8}"/>
              </a:ext>
            </a:extLst>
          </p:cNvPr>
          <p:cNvSpPr>
            <a:spLocks noGrp="1"/>
          </p:cNvSpPr>
          <p:nvPr/>
        </p:nvSpPr>
        <p:spPr>
          <a:xfrm>
            <a:off x="2324100" y="4267200"/>
            <a:ext cx="27432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RBF SVC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D61D97-D349-47A9-ADFF-5CB2CB26264D}"/>
              </a:ext>
            </a:extLst>
          </p:cNvPr>
          <p:cNvSpPr>
            <a:spLocks noGrp="1"/>
          </p:cNvSpPr>
          <p:nvPr/>
        </p:nvSpPr>
        <p:spPr>
          <a:xfrm>
            <a:off x="5524500" y="4267200"/>
            <a:ext cx="59626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Average precision 0.501 ± 0.189 versus prevalence 0.275</a:t>
            </a:r>
          </a:p>
          <a:p>
            <a:pPr algn="l">
              <a:lnSpc>
                <a:spcPct val="95000"/>
              </a:lnSpc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Performance varied by fold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205382-787C-4B4F-BDB6-FAA8115A467F}"/>
              </a:ext>
            </a:extLst>
          </p:cNvPr>
          <p:cNvSpPr>
            <a:spLocks noGrp="1"/>
          </p:cNvSpPr>
          <p:nvPr/>
        </p:nvSpPr>
        <p:spPr>
          <a:xfrm>
            <a:off x="1009650" y="5734050"/>
            <a:ext cx="101727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models ranked market activity more effectively than they predicted direction.</a:t>
            </a:r>
          </a:p>
        </p:txBody>
      </p:sp>
    </p:spTree>
    <p:extLst>
      <p:ext uri="{BB962C8B-B14F-4D97-AF65-F5344CB8AC3E}">
        <p14:creationId xmlns:p14="http://schemas.microsoft.com/office/powerpoint/2010/main" val="1618780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55BD6A-72E2-46D0-BE9F-FF508ED3AF26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Features associated with larger moves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9C049B-BF02-4603-BBAD-3E35BA61DC06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39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1C1FB4-B9C5-4721-87B0-C081B9752AC1}"/>
              </a:ext>
            </a:extLst>
          </p:cNvPr>
          <p:cNvSpPr>
            <a:spLocks noGrp="1"/>
          </p:cNvSpPr>
          <p:nvPr/>
        </p:nvSpPr>
        <p:spPr>
          <a:xfrm>
            <a:off x="11096625" y="6515100"/>
            <a:ext cx="590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7A91"/>
                </a:solidFill>
                <a:latin typeface="Arial"/>
                <a:ea typeface="Arial"/>
                <a:cs typeface="Arial"/>
              </a:rPr>
              <a:t>6/10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577325"/>
            <a:ext cx="6858000" cy="37604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E0EFEB-0575-4EBB-8CC6-C48F0A4958F6}"/>
              </a:ext>
            </a:extLst>
          </p:cNvPr>
          <p:cNvSpPr>
            <a:spLocks noGrp="1"/>
          </p:cNvSpPr>
          <p:nvPr/>
        </p:nvSpPr>
        <p:spPr>
          <a:xfrm>
            <a:off x="7677150" y="1276350"/>
            <a:ext cx="36671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6F8F"/>
                </a:solidFill>
                <a:latin typeface="Arial"/>
                <a:ea typeface="Arial"/>
                <a:cs typeface="Arial"/>
              </a:rPr>
              <a:t>Main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795476-0270-4E68-A8F7-133DC0DDC172}"/>
              </a:ext>
            </a:extLst>
          </p:cNvPr>
          <p:cNvSpPr>
            <a:spLocks noGrp="1"/>
          </p:cNvSpPr>
          <p:nvPr/>
        </p:nvSpPr>
        <p:spPr>
          <a:xfrm>
            <a:off x="7829550" y="1743075"/>
            <a:ext cx="371475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Volume and VWAP, volatility and momentum led grouped importance.</a:t>
            </a:r>
          </a:p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Cumulative SPY volume and ATR percentage led individual importance.</a:t>
            </a:r>
          </a:p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Importance varied by fold, so it shows association rather than causality.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93BB48-6AB2-4936-AD04-217E9193C3CC}"/>
              </a:ext>
            </a:extLst>
          </p:cNvPr>
          <p:cNvSpPr>
            <a:spLocks noGrp="1"/>
          </p:cNvSpPr>
          <p:nvPr/>
        </p:nvSpPr>
        <p:spPr>
          <a:xfrm>
            <a:off x="7677150" y="4514850"/>
            <a:ext cx="381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Added complexity did not help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313BA3-2B0B-458E-BECD-7BAB18C1AAEB}"/>
              </a:ext>
            </a:extLst>
          </p:cNvPr>
          <p:cNvSpPr>
            <a:spLocks noGrp="1"/>
          </p:cNvSpPr>
          <p:nvPr/>
        </p:nvSpPr>
        <p:spPr>
          <a:xfrm>
            <a:off x="7677150" y="4914900"/>
            <a:ext cx="3810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The exploratory LSTM underperformed the classical models on matching dates.</a:t>
            </a:r>
          </a:p>
        </p:txBody>
      </p:sp>
    </p:spTree>
    <p:extLst>
      <p:ext uri="{BB962C8B-B14F-4D97-AF65-F5344CB8AC3E}">
        <p14:creationId xmlns:p14="http://schemas.microsoft.com/office/powerpoint/2010/main" val="213471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F44710B-1A29-44D2-927B-81450B5DB7A9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RQ4: larger-move concentration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1DE3B9-AE44-4A68-9507-02E57844F1CA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39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44B7BF-12F0-45A9-B841-189A8333073F}"/>
              </a:ext>
            </a:extLst>
          </p:cNvPr>
          <p:cNvSpPr>
            <a:spLocks noGrp="1"/>
          </p:cNvSpPr>
          <p:nvPr/>
        </p:nvSpPr>
        <p:spPr>
          <a:xfrm>
            <a:off x="11096625" y="6515100"/>
            <a:ext cx="590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687A91"/>
                </a:solidFill>
                <a:latin typeface="Arial"/>
                <a:ea typeface="Arial"/>
                <a:cs typeface="Arial"/>
              </a:rPr>
              <a:t>7/10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97663-3C23-4963-ADB0-2E7B1D02C074}"/>
              </a:ext>
            </a:extLst>
          </p:cNvPr>
          <p:cNvSpPr>
            <a:spLocks noGrp="1"/>
          </p:cNvSpPr>
          <p:nvPr/>
        </p:nvSpPr>
        <p:spPr>
          <a:xfrm>
            <a:off x="2476500" y="1279814"/>
            <a:ext cx="1752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687A91"/>
                </a:solidFill>
                <a:latin typeface="Arial"/>
                <a:ea typeface="Arial"/>
                <a:cs typeface="Arial"/>
              </a:rPr>
              <a:t>All sessions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24C770-A2E1-4B77-BC62-107C7FF53F59}"/>
              </a:ext>
            </a:extLst>
          </p:cNvPr>
          <p:cNvSpPr>
            <a:spLocks noGrp="1"/>
          </p:cNvSpPr>
          <p:nvPr/>
        </p:nvSpPr>
        <p:spPr>
          <a:xfrm>
            <a:off x="3895725" y="1304925"/>
            <a:ext cx="1695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687A91"/>
                </a:solidFill>
                <a:latin typeface="Arial"/>
                <a:ea typeface="Arial"/>
                <a:cs typeface="Arial"/>
              </a:rPr>
              <a:t>Frozen rule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112BB24-6EFF-413F-AF69-70ABA15AA8EB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4095750" cy="9525"/>
          </a:xfrm>
          <a:prstGeom prst="line">
            <a:avLst/>
          </a:prstGeom>
          <a:noFill/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AA22FB-8AC2-46AB-A9D7-1D63E8B5C866}"/>
              </a:ext>
            </a:extLst>
          </p:cNvPr>
          <p:cNvSpPr>
            <a:spLocks noGrp="1"/>
          </p:cNvSpPr>
          <p:nvPr/>
        </p:nvSpPr>
        <p:spPr>
          <a:xfrm>
            <a:off x="495300" y="19240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b="0" dirty="0">
                <a:solidFill>
                  <a:srgbClr val="16263A"/>
                </a:solidFill>
                <a:latin typeface="Arial"/>
                <a:ea typeface="Arial"/>
                <a:cs typeface="Arial"/>
              </a:rPr>
              <a:t>Sessions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EAF70B-719F-49B9-B3DC-9DB01F1C8868}"/>
              </a:ext>
            </a:extLst>
          </p:cNvPr>
          <p:cNvSpPr>
            <a:spLocks noGrp="1"/>
          </p:cNvSpPr>
          <p:nvPr/>
        </p:nvSpPr>
        <p:spPr>
          <a:xfrm>
            <a:off x="2476500" y="1924050"/>
            <a:ext cx="895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42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276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CB05D-76DB-4B60-8AC0-ABAFCE9C5215}"/>
              </a:ext>
            </a:extLst>
          </p:cNvPr>
          <p:cNvSpPr>
            <a:spLocks noGrp="1"/>
          </p:cNvSpPr>
          <p:nvPr/>
        </p:nvSpPr>
        <p:spPr>
          <a:xfrm>
            <a:off x="3581400" y="1924050"/>
            <a:ext cx="1009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2D8C87-0AD2-46F2-A53C-F9EB136E75AD}"/>
              </a:ext>
            </a:extLst>
          </p:cNvPr>
          <p:cNvSpPr>
            <a:spLocks noGrp="1"/>
          </p:cNvSpPr>
          <p:nvPr/>
        </p:nvSpPr>
        <p:spPr>
          <a:xfrm>
            <a:off x="495300" y="24384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C3BC0B-689D-4449-993E-377263CCDE02}"/>
              </a:ext>
            </a:extLst>
          </p:cNvPr>
          <p:cNvSpPr>
            <a:spLocks noGrp="1"/>
          </p:cNvSpPr>
          <p:nvPr/>
        </p:nvSpPr>
        <p:spPr>
          <a:xfrm>
            <a:off x="2476500" y="2438400"/>
            <a:ext cx="895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42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063C93-7FB9-42F3-AC64-CA2F4348E274}"/>
              </a:ext>
            </a:extLst>
          </p:cNvPr>
          <p:cNvSpPr>
            <a:spLocks noGrp="1"/>
          </p:cNvSpPr>
          <p:nvPr/>
        </p:nvSpPr>
        <p:spPr>
          <a:xfrm>
            <a:off x="3581400" y="2438400"/>
            <a:ext cx="1009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7.2%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78156-72BC-4C95-A3E0-6BB2ED184E97}"/>
              </a:ext>
            </a:extLst>
          </p:cNvPr>
          <p:cNvSpPr>
            <a:spLocks noGrp="1"/>
          </p:cNvSpPr>
          <p:nvPr/>
        </p:nvSpPr>
        <p:spPr>
          <a:xfrm>
            <a:off x="495300" y="29527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Mean absolute move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2B4A5B-5F94-4E66-9A0A-52C1C64977EC}"/>
              </a:ext>
            </a:extLst>
          </p:cNvPr>
          <p:cNvSpPr>
            <a:spLocks noGrp="1"/>
          </p:cNvSpPr>
          <p:nvPr/>
        </p:nvSpPr>
        <p:spPr>
          <a:xfrm>
            <a:off x="2476500" y="2952750"/>
            <a:ext cx="895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42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22.80 bps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05E9C7-31F5-4C58-B970-09AC8E1C6D9B}"/>
              </a:ext>
            </a:extLst>
          </p:cNvPr>
          <p:cNvSpPr>
            <a:spLocks noGrp="1"/>
          </p:cNvSpPr>
          <p:nvPr/>
        </p:nvSpPr>
        <p:spPr>
          <a:xfrm>
            <a:off x="3581400" y="2952750"/>
            <a:ext cx="1009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38.16 bps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8FC2EB-134F-49BA-80B5-67DEEFA3F87B}"/>
              </a:ext>
            </a:extLst>
          </p:cNvPr>
          <p:cNvSpPr>
            <a:spLocks noGrp="1"/>
          </p:cNvSpPr>
          <p:nvPr/>
        </p:nvSpPr>
        <p:spPr>
          <a:xfrm>
            <a:off x="495300" y="346710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Moves at least 30 bps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861B2-4777-4A99-BCB7-E3672AFA7FBD}"/>
              </a:ext>
            </a:extLst>
          </p:cNvPr>
          <p:cNvSpPr>
            <a:spLocks noGrp="1"/>
          </p:cNvSpPr>
          <p:nvPr/>
        </p:nvSpPr>
        <p:spPr>
          <a:xfrm>
            <a:off x="2476500" y="3467100"/>
            <a:ext cx="895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42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24.3%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9554FD-6090-42EB-BB6B-5D59507595EB}"/>
              </a:ext>
            </a:extLst>
          </p:cNvPr>
          <p:cNvSpPr>
            <a:spLocks noGrp="1"/>
          </p:cNvSpPr>
          <p:nvPr/>
        </p:nvSpPr>
        <p:spPr>
          <a:xfrm>
            <a:off x="3581400" y="3467100"/>
            <a:ext cx="1009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60.0%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6874585-413E-4C03-8C39-895BDF871DBC}"/>
              </a:ext>
            </a:extLst>
          </p:cNvPr>
          <p:cNvSpPr>
            <a:spLocks noGrp="1"/>
          </p:cNvSpPr>
          <p:nvPr/>
        </p:nvSpPr>
        <p:spPr>
          <a:xfrm>
            <a:off x="495300" y="4048125"/>
            <a:ext cx="4095750" cy="9525"/>
          </a:xfrm>
          <a:prstGeom prst="line">
            <a:avLst/>
          </a:prstGeom>
          <a:noFill/>
          <a:ln w="9525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88D0A0-4FB8-4862-9409-B4F4A2B52857}"/>
              </a:ext>
            </a:extLst>
          </p:cNvPr>
          <p:cNvSpPr>
            <a:spLocks noGrp="1"/>
          </p:cNvSpPr>
          <p:nvPr/>
        </p:nvSpPr>
        <p:spPr>
          <a:xfrm>
            <a:off x="495300" y="4391025"/>
            <a:ext cx="1809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9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2.5×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82EA38-CBC2-45B1-80AC-DE38B919359D}"/>
              </a:ext>
            </a:extLst>
          </p:cNvPr>
          <p:cNvSpPr>
            <a:spLocks noGrp="1"/>
          </p:cNvSpPr>
          <p:nvPr/>
        </p:nvSpPr>
        <p:spPr>
          <a:xfrm>
            <a:off x="514350" y="5000625"/>
            <a:ext cx="3381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687A91"/>
                </a:solidFill>
                <a:latin typeface="Arial"/>
                <a:ea typeface="Arial"/>
                <a:cs typeface="Arial"/>
              </a:rPr>
              <a:t>observed lift in 30+ bps moves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999259-764E-4D8E-8C9C-CB22072A62C1}"/>
              </a:ext>
            </a:extLst>
          </p:cNvPr>
          <p:cNvSpPr>
            <a:spLocks noGrp="1"/>
          </p:cNvSpPr>
          <p:nvPr/>
        </p:nvSpPr>
        <p:spPr>
          <a:xfrm>
            <a:off x="495300" y="5600700"/>
            <a:ext cx="4095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Only 20 sessions passed the frozen rule, so uncertainty remained high.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57750" y="1750809"/>
            <a:ext cx="6762750" cy="364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2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1A5DBDE-662C-4E60-B853-9A1967C42F6E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RQ5: profitable history, inconclusive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5FA0E-C201-4742-9599-E0E10B0B19F0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39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FC9147-666B-4CEA-83EC-7C881C78C26C}"/>
              </a:ext>
            </a:extLst>
          </p:cNvPr>
          <p:cNvSpPr>
            <a:spLocks noGrp="1"/>
          </p:cNvSpPr>
          <p:nvPr/>
        </p:nvSpPr>
        <p:spPr>
          <a:xfrm>
            <a:off x="11096625" y="6515100"/>
            <a:ext cx="590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8/10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600B1D-AAD0-43D4-BC63-03F53A730A33}"/>
              </a:ext>
            </a:extLst>
          </p:cNvPr>
          <p:cNvSpPr>
            <a:spLocks noGrp="1"/>
          </p:cNvSpPr>
          <p:nvPr/>
        </p:nvSpPr>
        <p:spPr>
          <a:xfrm>
            <a:off x="495300" y="12001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687000-B58A-4472-96EF-10D94A6DF3E6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2000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usable ATM 0DTE trades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D7666F-A0F1-4AAB-93A4-562BD4663AD8}"/>
              </a:ext>
            </a:extLst>
          </p:cNvPr>
          <p:cNvSpPr>
            <a:spLocks noGrp="1"/>
          </p:cNvSpPr>
          <p:nvPr/>
        </p:nvSpPr>
        <p:spPr>
          <a:xfrm>
            <a:off x="2914650" y="1200150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$9,551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79989F-2F4A-4A6C-A5E5-1A8E5479D9B2}"/>
              </a:ext>
            </a:extLst>
          </p:cNvPr>
          <p:cNvSpPr>
            <a:spLocks noGrp="1"/>
          </p:cNvSpPr>
          <p:nvPr/>
        </p:nvSpPr>
        <p:spPr>
          <a:xfrm>
            <a:off x="2914650" y="1676400"/>
            <a:ext cx="238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ML-direction total P&amp;L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580F24-92DB-4494-8B7E-D2C985CD629D}"/>
              </a:ext>
            </a:extLst>
          </p:cNvPr>
          <p:cNvSpPr>
            <a:spLocks noGrp="1"/>
          </p:cNvSpPr>
          <p:nvPr/>
        </p:nvSpPr>
        <p:spPr>
          <a:xfrm>
            <a:off x="5810250" y="12001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64.7%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5A845-0BFE-4B9F-8E73-E52030630270}"/>
              </a:ext>
            </a:extLst>
          </p:cNvPr>
          <p:cNvSpPr>
            <a:spLocks noGrp="1"/>
          </p:cNvSpPr>
          <p:nvPr/>
        </p:nvSpPr>
        <p:spPr>
          <a:xfrm>
            <a:off x="5810250" y="1676400"/>
            <a:ext cx="2000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win rate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DF7ADA-F010-4684-B630-D6C4C8D2E1D9}"/>
              </a:ext>
            </a:extLst>
          </p:cNvPr>
          <p:cNvSpPr>
            <a:spLocks noGrp="1"/>
          </p:cNvSpPr>
          <p:nvPr/>
        </p:nvSpPr>
        <p:spPr>
          <a:xfrm>
            <a:off x="8248650" y="120015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3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53.5%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E587B8-A0DB-41A5-A208-E2F3C80A6A82}"/>
              </a:ext>
            </a:extLst>
          </p:cNvPr>
          <p:cNvSpPr>
            <a:spLocks noGrp="1"/>
          </p:cNvSpPr>
          <p:nvPr/>
        </p:nvSpPr>
        <p:spPr>
          <a:xfrm>
            <a:off x="8248650" y="167640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mean return on premium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8251F14-4B23-4FE0-AC97-C27A1C35290C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11182350" cy="9525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CA9480-6F86-47D9-A3C2-18FE949C6EF4}"/>
              </a:ext>
            </a:extLst>
          </p:cNvPr>
          <p:cNvSpPr>
            <a:spLocks noGrp="1"/>
          </p:cNvSpPr>
          <p:nvPr/>
        </p:nvSpPr>
        <p:spPr>
          <a:xfrm>
            <a:off x="495300" y="26479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Primary rule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005BFB-88FD-4EE6-8FB2-72BF011823AA}"/>
              </a:ext>
            </a:extLst>
          </p:cNvPr>
          <p:cNvSpPr>
            <a:spLocks noGrp="1"/>
          </p:cNvSpPr>
          <p:nvPr/>
        </p:nvSpPr>
        <p:spPr>
          <a:xfrm>
            <a:off x="495300" y="3048000"/>
            <a:ext cx="4953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Buy the nearest ATM call or put at 15:00 to 15:05, exit at 15:55 to 15:59, and apply the medium synthetic cost assumption.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B83555-412E-4563-8012-899883EAA6A8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ML direction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7F2609-90B9-4DCB-9ED3-7F69759D52DD}"/>
              </a:ext>
            </a:extLst>
          </p:cNvPr>
          <p:cNvSpPr>
            <a:spLocks noGrp="1"/>
          </p:cNvSpPr>
          <p:nvPr/>
        </p:nvSpPr>
        <p:spPr>
          <a:xfrm>
            <a:off x="2343150" y="443865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$9,551 P&amp;L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B0CB36-E9BC-49EE-8F5A-1EB9FC4AAD3F}"/>
              </a:ext>
            </a:extLst>
          </p:cNvPr>
          <p:cNvSpPr>
            <a:spLocks noGrp="1"/>
          </p:cNvSpPr>
          <p:nvPr/>
        </p:nvSpPr>
        <p:spPr>
          <a:xfrm>
            <a:off x="3086100" y="44386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-$2,143 max drawdown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2572DD-3A37-404B-A75A-582DF631534A}"/>
              </a:ext>
            </a:extLst>
          </p:cNvPr>
          <p:cNvSpPr>
            <a:spLocks noGrp="1"/>
          </p:cNvSpPr>
          <p:nvPr/>
        </p:nvSpPr>
        <p:spPr>
          <a:xfrm>
            <a:off x="495300" y="4895850"/>
            <a:ext cx="2286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60-minute mean reversion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4456CD-4C07-45BF-B211-43B91AD34363}"/>
              </a:ext>
            </a:extLst>
          </p:cNvPr>
          <p:cNvSpPr>
            <a:spLocks noGrp="1"/>
          </p:cNvSpPr>
          <p:nvPr/>
        </p:nvSpPr>
        <p:spPr>
          <a:xfrm>
            <a:off x="2287732" y="500062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$9,691 P&amp;L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6DAD6E-30B0-4B46-A00B-1F1CB5638644}"/>
              </a:ext>
            </a:extLst>
          </p:cNvPr>
          <p:cNvSpPr>
            <a:spLocks noGrp="1"/>
          </p:cNvSpPr>
          <p:nvPr/>
        </p:nvSpPr>
        <p:spPr>
          <a:xfrm>
            <a:off x="3390900" y="4981864"/>
            <a:ext cx="16002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-$1,604 max drawdown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605C85-9760-4AB7-A2DE-8F34344E20B5}"/>
              </a:ext>
            </a:extLst>
          </p:cNvPr>
          <p:cNvSpPr>
            <a:spLocks noGrp="1"/>
          </p:cNvSpPr>
          <p:nvPr/>
        </p:nvSpPr>
        <p:spPr>
          <a:xfrm>
            <a:off x="6267450" y="2647950"/>
            <a:ext cx="5143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Why the result remains inconclusive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49A1A3-5BE7-4C32-8F48-F1173E0BBE96}"/>
              </a:ext>
            </a:extLst>
          </p:cNvPr>
          <p:cNvSpPr>
            <a:spLocks noGrp="1"/>
          </p:cNvSpPr>
          <p:nvPr/>
        </p:nvSpPr>
        <p:spPr>
          <a:xfrm>
            <a:off x="6438900" y="3086100"/>
            <a:ext cx="4953000" cy="2362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Mean reversion slightly beat ML direction on the same dates.</a:t>
            </a:r>
          </a:p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Removing the five best trades changed P&amp;L to -$2,143.</a:t>
            </a:r>
          </a:p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bootstrap interval for mean profit crossed zero.</a:t>
            </a:r>
          </a:p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Trade bars and synthetic costs cannot reproduce NBBO fills.</a:t>
            </a:r>
          </a:p>
        </p:txBody>
      </p:sp>
    </p:spTree>
    <p:extLst>
      <p:ext uri="{BB962C8B-B14F-4D97-AF65-F5344CB8AC3E}">
        <p14:creationId xmlns:p14="http://schemas.microsoft.com/office/powerpoint/2010/main" val="2082394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C9F381-3C10-4380-A465-C8FFB48AE782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Conclusion and limitations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8FAB71-1077-4A22-BAF3-5A200DB1815F}"/>
              </a:ext>
            </a:extLst>
          </p:cNvPr>
          <p:cNvSpPr>
            <a:spLocks noGrp="1"/>
          </p:cNvSpPr>
          <p:nvPr/>
        </p:nvSpPr>
        <p:spPr>
          <a:xfrm>
            <a:off x="495300" y="885825"/>
            <a:ext cx="112395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FCFE4-B478-4016-B285-B9EFF595E62D}"/>
              </a:ext>
            </a:extLst>
          </p:cNvPr>
          <p:cNvSpPr>
            <a:spLocks noGrp="1"/>
          </p:cNvSpPr>
          <p:nvPr/>
        </p:nvSpPr>
        <p:spPr>
          <a:xfrm>
            <a:off x="11096625" y="6515100"/>
            <a:ext cx="590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7A91"/>
                </a:solidFill>
                <a:latin typeface="Arial"/>
                <a:ea typeface="Arial"/>
                <a:cs typeface="Arial"/>
              </a:rPr>
              <a:t>9/10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BBAE41-8A2D-421B-9BB2-4D2D20B0918B}"/>
              </a:ext>
            </a:extLst>
          </p:cNvPr>
          <p:cNvSpPr>
            <a:spLocks noGrp="1"/>
          </p:cNvSpPr>
          <p:nvPr/>
        </p:nvSpPr>
        <p:spPr>
          <a:xfrm>
            <a:off x="838200" y="1190625"/>
            <a:ext cx="10515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Intraday information helped identify larger-move sessions, but the evidence did not establish a reliable directional or trading edge.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F41A7-CA66-437D-8269-EA11D9A14B07}"/>
              </a:ext>
            </a:extLst>
          </p:cNvPr>
          <p:cNvSpPr>
            <a:spLocks noGrp="1"/>
          </p:cNvSpPr>
          <p:nvPr/>
        </p:nvSpPr>
        <p:spPr>
          <a:xfrm>
            <a:off x="495300" y="2295525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169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9C91"/>
                </a:solidFill>
                <a:latin typeface="Arial"/>
                <a:ea typeface="Arial"/>
                <a:cs typeface="Arial"/>
              </a:rPr>
              <a:t>Evidence supported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618EAD-23BF-43D0-89A1-1FE6F690A70F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47625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Modest ranking ability for movement magnitude</a:t>
            </a:r>
          </a:p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Useful large-move classification relative to prevalence</a:t>
            </a:r>
          </a:p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A combined filter that concentrated larger final-hour moves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9692FB-BEB0-4AD3-8E87-A644B4F7432B}"/>
              </a:ext>
            </a:extLst>
          </p:cNvPr>
          <p:cNvSpPr>
            <a:spLocks noGrp="1"/>
          </p:cNvSpPr>
          <p:nvPr/>
        </p:nvSpPr>
        <p:spPr>
          <a:xfrm>
            <a:off x="6343650" y="2295525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C64B5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64B50"/>
                </a:solidFill>
                <a:latin typeface="Arial"/>
                <a:ea typeface="Arial"/>
                <a:cs typeface="Arial"/>
              </a:rPr>
              <a:t>Evidence did not establish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A60E97-A7C2-44A2-A450-39FC75CEEDA6}"/>
              </a:ext>
            </a:extLst>
          </p:cNvPr>
          <p:cNvSpPr>
            <a:spLocks noGrp="1"/>
          </p:cNvSpPr>
          <p:nvPr/>
        </p:nvSpPr>
        <p:spPr>
          <a:xfrm>
            <a:off x="6515100" y="2724150"/>
            <a:ext cx="47625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Stable directional predictability</a:t>
            </a:r>
          </a:p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An ML advantage over simple mean reversion</a:t>
            </a:r>
          </a:p>
          <a:p>
            <a:pPr marL="228600" indent="-114300" algn="l">
              <a:lnSpc>
                <a:spcPct val="100000"/>
              </a:lnSpc>
              <a:spcAft>
                <a:spcPts val="1000"/>
              </a:spcAft>
              <a:buNone/>
              <a:defRPr sz="1650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A live, independently profitable 0DTE strategy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FA748D5-D739-4FA7-8369-4D7F0F674420}"/>
              </a:ext>
            </a:extLst>
          </p:cNvPr>
          <p:cNvSpPr>
            <a:spLocks noGrp="1"/>
          </p:cNvSpPr>
          <p:nvPr/>
        </p:nvSpPr>
        <p:spPr>
          <a:xfrm>
            <a:off x="495300" y="4876800"/>
            <a:ext cx="11182350" cy="9525"/>
          </a:xfrm>
          <a:prstGeom prst="line">
            <a:avLst/>
          </a:prstGeom>
          <a:noFill/>
          <a:ln w="9525">
            <a:solidFill>
              <a:srgbClr val="C8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21F6E7-EF9B-4F9A-9462-48BA9AAEEAB3}"/>
              </a:ext>
            </a:extLst>
          </p:cNvPr>
          <p:cNvSpPr>
            <a:spLocks noGrp="1"/>
          </p:cNvSpPr>
          <p:nvPr/>
        </p:nvSpPr>
        <p:spPr>
          <a:xfrm>
            <a:off x="495300" y="5162550"/>
            <a:ext cx="1371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0F6F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6F8F"/>
                </a:solidFill>
                <a:latin typeface="Arial"/>
                <a:ea typeface="Arial"/>
                <a:cs typeface="Arial"/>
              </a:rPr>
              <a:t>Next test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1AB73E-9FDD-4D4C-8136-9C86AB523A0E}"/>
              </a:ext>
            </a:extLst>
          </p:cNvPr>
          <p:cNvSpPr>
            <a:spLocks noGrp="1"/>
          </p:cNvSpPr>
          <p:nvPr/>
        </p:nvSpPr>
        <p:spPr>
          <a:xfrm>
            <a:off x="1809750" y="5162550"/>
            <a:ext cx="96678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162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63A"/>
                </a:solidFill>
                <a:latin typeface="Arial"/>
                <a:ea typeface="Arial"/>
                <a:cs typeface="Arial"/>
              </a:rPr>
              <a:t>Freeze the models and rules, add historical NBBO quotes, and evaluate a longer unseen period through prospective paper trading.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916608-8D10-4CDA-A8F2-D5D635BFEA6B}"/>
              </a:ext>
            </a:extLst>
          </p:cNvPr>
          <p:cNvSpPr>
            <a:spLocks noGrp="1"/>
          </p:cNvSpPr>
          <p:nvPr/>
        </p:nvSpPr>
        <p:spPr>
          <a:xfrm>
            <a:off x="495300" y="5953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87A9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A91"/>
                </a:solidFill>
                <a:latin typeface="Arial"/>
                <a:ea typeface="Arial"/>
                <a:cs typeface="Arial"/>
              </a:rPr>
              <a:t>Main constraints: two years of modelling data, 17 options trades, synthetic execution costs and no prospective trading test.</a:t>
            </a:r>
          </a:p>
        </p:txBody>
      </p:sp>
    </p:spTree>
    <p:extLst>
      <p:ext uri="{BB962C8B-B14F-4D97-AF65-F5344CB8AC3E}">
        <p14:creationId xmlns:p14="http://schemas.microsoft.com/office/powerpoint/2010/main" val="750655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F1110F-47DB-4C25-8A48-17C6A77142AD}"/>
              </a:ext>
            </a:extLst>
          </p:cNvPr>
          <p:cNvSpPr>
            <a:spLocks noGrp="1"/>
          </p:cNvSpPr>
          <p:nvPr/>
        </p:nvSpPr>
        <p:spPr>
          <a:xfrm>
            <a:off x="5429250" y="1190625"/>
            <a:ext cx="1333500" cy="4762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45E012-A91C-4FCD-BBC2-627279A803FE}"/>
              </a:ext>
            </a:extLst>
          </p:cNvPr>
          <p:cNvSpPr>
            <a:spLocks noGrp="1"/>
          </p:cNvSpPr>
          <p:nvPr/>
        </p:nvSpPr>
        <p:spPr>
          <a:xfrm>
            <a:off x="1714500" y="2000250"/>
            <a:ext cx="8763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2D2715-966A-478D-8A91-503DB5E7D832}"/>
              </a:ext>
            </a:extLst>
          </p:cNvPr>
          <p:cNvSpPr>
            <a:spLocks noGrp="1"/>
          </p:cNvSpPr>
          <p:nvPr/>
        </p:nvSpPr>
        <p:spPr>
          <a:xfrm>
            <a:off x="1619250" y="3228975"/>
            <a:ext cx="8953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025" b="0">
                <a:solidFill>
                  <a:srgbClr val="DDE7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7EF"/>
                </a:solidFill>
                <a:latin typeface="Arial"/>
                <a:ea typeface="Arial"/>
                <a:cs typeface="Arial"/>
              </a:rPr>
              <a:t>Intraday signals identified more active final-hour sessions,</a:t>
            </a:r>
          </a:p>
          <a:p>
            <a:pPr algn="ctr">
              <a:lnSpc>
                <a:spcPct val="100000"/>
              </a:lnSpc>
              <a:buNone/>
              <a:defRPr sz="2025" b="0">
                <a:solidFill>
                  <a:srgbClr val="DDE7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7EF"/>
                </a:solidFill>
                <a:latin typeface="Arial"/>
                <a:ea typeface="Arial"/>
                <a:cs typeface="Arial"/>
              </a:rPr>
              <a:t>but the evidence did not establish a reliable trading edge.</a:t>
            </a:r>
          </a:p>
        </p:txBody>
      </p:sp>
    </p:spTree>
    <p:extLst>
      <p:ext uri="{BB962C8B-B14F-4D97-AF65-F5344CB8AC3E}">
        <p14:creationId xmlns:p14="http://schemas.microsoft.com/office/powerpoint/2010/main" val="50546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741</Words>
  <Application>Microsoft Office PowerPoint</Application>
  <DocSecurity>0</DocSecurity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Harsh Khatri</cp:lastModifiedBy>
  <cp:revision>2</cp:revision>
  <dcterms:created xsi:type="dcterms:W3CDTF">2026-09-05T22:45:04Z</dcterms:created>
  <dcterms:modified xsi:type="dcterms:W3CDTF">2026-09-05T22:54:51Z</dcterms:modified>
</cp:coreProperties>
</file>